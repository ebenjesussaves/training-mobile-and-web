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465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positioning RailPass as a realistic training monorepo: mobile passenger app, staff dashboard, and backend API contract. Tell learners the course is about decisions and trade-offs, not memorizing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mental model for the course. Learners should not edit backend in frontend exercises, but they must understand pricing, validation and seat reservation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course length is modular. The deck supports all schedules; detailed timing lives in the README and lesson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convention the user emphasized. Repeat it often. Tokens include colours, spacing, radii, typography, sizes, motion and drawing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dashboard screenshots for visual review. If mobile screenshots are later added to .artifacts/mobile, rerun build-deck.mjs; the script can be extended to include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mobile/app/_layout.tsx and station-picker route. Emphasize that app/ is the navigation layer, not the place for full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for Project organisation. Ask learners to predict where the code lives before opening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lesson note table for complete What/Why/Trade-offs/When differently. This slide is for discussion, not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actual snippet to keep the lesson grounded in the codebase. Avoid generic framework 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activity from the lesson notes. Keep the group focused on evidence from actual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docs/design-tokens.md. The red dark-mode accent is brand, not error. Unavailable seats use hatching and grey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for Components and design tokens. Ask learners to predict where the code lives before opening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lesson note table for complete What/Why/Trade-offs/When differently. This slide is for discussion, not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actual snippet to keep the lesson grounded in the codebase. Avoid generic framework 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activity from the lesson notes. Keep the group focused on evidence from actual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home → seat → checkout → tickets. For dashboard, show passenger refused and staff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for Navigation and flows. Ask learners to predict where the code lives before opening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lesson note table for complete What/Why/Trade-offs/When differently. This slide is for discussion, not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actual snippet to keep the lesson grounded in the codebase. Avoid generic framework 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activity from the lesson notes. Keep the group focused on evidence from actual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selected seats are volatile and should not be persisted. Dashboard Redux does not own server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for State management. Ask learners to predict where the code lives before opening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lesson note table for complete What/Why/Trade-offs/When differently. This slide is for discussion, not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actual snippet to keep the lesson grounded in the codebase. Avoid generic framework 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activity from the lesson notes. Keep the group focused on evidence from actual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Server-side pricing and final seat conflicts are not optional. The UI is resilient, not authoritative.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for API, forms and failures. Ask learners to predict where the code lives before opening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lesson note table for complete What/Why/Trade-offs/When differently. This slide is for discussion, not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actual snippet to keep the lesson grounded in the codebase. Avoid generic framework 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activity from the lesson notes. Keep the group focused on evidence from actual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Canvas accessible=false and Pressable labels. Polling cost is a product/infra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for Performance and debugging. Ask learners to predict where the code lives before opening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lesson note table for complete What/Why/Trade-offs/When differently. This slide is for discussion, not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actual snippet to keep the lesson grounded in the codebase. Avoid generic framework 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activity from the lesson notes. Keep the group focused on evidence from actual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accessibility to implementation choices in the seat map. Git hooks are guardrails, not full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for Accessibility, testing, review. Ask learners to predict where the code lives before opening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lesson note table for complete What/Why/Trade-offs/When differently. This slide is for discussion, not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actual snippet to keep the lesson grounded in the codebase. Avoid generic framework 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activity from the lesson notes. Keep the group focused on evidence from actual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lesson ties everything together. Require learners to write acceptance criteria before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for Extending maintainably. Ask learners to predict where the code lives before opening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lesson note table for complete What/Why/Trade-offs/When differently. This slide is for discussion, not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actual snippet to keep the lesson grounded in the codebase. Avoid generic framework 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activity from the lesson notes. Keep the group focused on evidence from actual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module for ticketing. Focus on bundle size, API contract and drawing trade-offs, not barcode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module for staff dashboard work. Use screenshots and table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module for end-to-end thinking. Explain why UI must be resilient to final server conflicts.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learners to use the checklist on their first RailPass PR and to link evidence: files read, tests run, screenshots inspected.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ILPASS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10528"/>
            <a:ext cx="11475720" cy="0"/>
          </a:xfrm>
          <a:prstGeom prst="line">
            <a:avLst/>
          </a:prstGeom>
          <a:noFill/>
          <a:ln w="12700">
            <a:solidFill>
              <a:srgbClr val="DD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F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RailPass frontend onboarding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097280"/>
            <a:ext cx="4572000" cy="4572000"/>
          </a:xfrm>
          <a:prstGeom prst="arc">
            <a:avLst/>
          </a:prstGeom>
          <a:solidFill>
            <a:srgbClr val="FF4D5A">
              <a:alpha val="46000"/>
            </a:srgbClr>
          </a:solidFill>
          <a:ln w="12700">
            <a:solidFill>
              <a:srgbClr val="FF4D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3840480"/>
            <a:ext cx="3840480" cy="3840480"/>
          </a:xfrm>
          <a:prstGeom prst="arc">
            <a:avLst/>
          </a:prstGeom>
          <a:solidFill>
            <a:srgbClr val="7EE6A0">
              <a:alpha val="62000"/>
            </a:srgbClr>
          </a:solidFill>
          <a:ln w="12700">
            <a:solidFill>
              <a:srgbClr val="7EE6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E6A0"/>
                </a:solidFill>
              </a:rPr>
              <a:t>RailPass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Frontend onboarding course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B1B1"/>
                </a:solidFill>
              </a:rPr>
              <a:t>Expo passenger app + React/Vite operations dashboard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9B1B1"/>
                </a:solidFill>
              </a:rPr>
              <a:t>Real code, interactive demos, debugging and review practice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65760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FF4D5A"/>
          </a:solidFill>
          <a:ln w="12700">
            <a:solidFill>
              <a:srgbClr val="FF4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1703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40405"/>
                </a:solidFill>
              </a:rPr>
              <a:t>NEW EMPLOYEES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057400" y="365760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371703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120D"/>
                </a:solidFill>
              </a:rPr>
              <a:t>FRONTEND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429000" y="365760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17301D"/>
          </a:solidFill>
          <a:ln w="12700">
            <a:solidFill>
              <a:srgbClr val="1730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71703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GHANA RAIL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RailPass system map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One API, two frontends, one design language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92024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0D"/>
                </a:solidFill>
              </a:rPr>
              <a:t>Expo passenger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20D"/>
                </a:solidFill>
              </a:rPr>
              <a:t>mobile/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329184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338328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0D"/>
                </a:solidFill>
              </a:rPr>
              <a:t>Vite staff 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20D"/>
                </a:solidFill>
              </a:rPr>
              <a:t>dashboard/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51460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2606040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0D"/>
                </a:solidFill>
              </a:rPr>
              <a:t>NestJS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20D"/>
                </a:solidFill>
              </a:rPr>
              <a:t>/api + /admin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0" y="18288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41664" y="192024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0D"/>
                </a:solidFill>
              </a:rPr>
              <a:t>PostgreSQL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20D"/>
                </a:solidFill>
              </a:rPr>
              <a:t>Prisma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0" y="33375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41664" y="34290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0D"/>
                </a:solidFill>
              </a:rPr>
              <a:t>Mailpit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20D"/>
                </a:solidFill>
              </a:rPr>
              <a:t>password reset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2212848"/>
            <a:ext cx="1810512" cy="576072"/>
          </a:xfrm>
          <a:prstGeom prst="line">
            <a:avLst/>
          </a:prstGeom>
          <a:noFill/>
          <a:ln w="15240">
            <a:solidFill>
              <a:srgbClr val="5F6A6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34640" y="3675888"/>
            <a:ext cx="1810512" cy="0"/>
          </a:xfrm>
          <a:prstGeom prst="line">
            <a:avLst/>
          </a:prstGeom>
          <a:noFill/>
          <a:ln w="15240">
            <a:solidFill>
              <a:srgbClr val="5F6A6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49440" y="2743200"/>
            <a:ext cx="1627632" cy="0"/>
          </a:xfrm>
          <a:prstGeom prst="line">
            <a:avLst/>
          </a:prstGeom>
          <a:noFill/>
          <a:ln w="15240">
            <a:solidFill>
              <a:srgbClr val="5F6A6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49440" y="3154680"/>
            <a:ext cx="1627632" cy="548640"/>
          </a:xfrm>
          <a:prstGeom prst="line">
            <a:avLst/>
          </a:prstGeom>
          <a:noFill/>
          <a:ln w="15240">
            <a:solidFill>
              <a:srgbClr val="5F6A62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68680" y="489204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Frontend lessons reference backend contracts only where they shape UX.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Design tokens mirror across mobile constants and dashboard CSS variables.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Server owns pricing and seat-concurrency truth.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paths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Run the core lessons in one day, two days, or four half-days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063240" cy="42976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1-day intensive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24231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Codebase map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Tokens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State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API failure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325880"/>
            <a:ext cx="3063240" cy="42976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2-day course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2148840"/>
            <a:ext cx="24231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Day 1: lessons 1–4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Day 2: lessons 5–8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Exercises between blocks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Mini PR 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1325880"/>
            <a:ext cx="3063240" cy="42976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4 half-days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1040" y="2148840"/>
            <a:ext cx="24231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Map + tokens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Flow + state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API + debugging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Quality + extension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rule: token-first UI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No hard-coded design values in components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20640" cy="2788920"/>
          </a:xfrm>
          <a:prstGeom prst="roundRect">
            <a:avLst>
              <a:gd name="adj" fmla="val 3934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46304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475488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row: { borderRadius: radii.xl, padding: spacing.md }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Don't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row: { borderRadius: 24, padding: 12, backgroundColor: '#FF4D5A' }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4526280" cy="2788920"/>
          </a:xfrm>
          <a:prstGeom prst="roundRect">
            <a:avLst>
              <a:gd name="adj" fmla="val 3934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276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0D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03120"/>
            <a:ext cx="35661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Light/dark themes stay aligned.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Danger and red brand remain distinct.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Screenshots become predictable.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Reviews focus on intent, not magic numbers.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as review artifacts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Use visuals to discuss tokens, states and layout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pic>
        <p:nvPicPr>
          <p:cNvPr id="6" name="Image 0" descr="/Users/ebenezeragyekum/Codes/Training/.artifacts/dashboard/overview-light-1440x9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352044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401568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6A62"/>
                </a:solidFill>
              </a:rPr>
              <a:t>Dashboard overview</a:t>
            </a:r>
            <a:endParaRPr lang="en-US" sz="650" dirty="0"/>
          </a:p>
        </p:txBody>
      </p:sp>
      <p:pic>
        <p:nvPicPr>
          <p:cNvPr id="8" name="Image 1" descr="/Users/ebenezeragyekum/Codes/Training/.artifacts/dashboard/journeys-list-dark-1440x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143000"/>
            <a:ext cx="3520440" cy="2194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0" y="3401568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6A62"/>
                </a:solidFill>
              </a:rPr>
              <a:t>Dark journeys list</a:t>
            </a:r>
            <a:endParaRPr lang="en-US" sz="650" dirty="0"/>
          </a:p>
        </p:txBody>
      </p:sp>
      <p:pic>
        <p:nvPicPr>
          <p:cNvPr id="10" name="Image 2" descr="/Users/ebenezeragyekum/Codes/Training/.artifacts/dashboard/journey-detail-seat-map-light-1440x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143000"/>
            <a:ext cx="3520440" cy="2194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0" y="3401568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6A62"/>
                </a:solidFill>
              </a:rPr>
              <a:t>Seat occupancy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822960" y="47091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A62"/>
                </a:solidFill>
              </a:rPr>
              <a:t>Mobile screenshots were not present when this deck was generated; use live Expo demos for mobile flows.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6A0"/>
                </a:solidFill>
              </a:rPr>
              <a:t>Lesson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Project organisation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1B1"/>
                </a:solidFill>
              </a:rPr>
              <a:t>60 min · mobile/app → features → constants/config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577840" cy="0"/>
          </a:xfrm>
          <a:prstGeom prst="line">
            <a:avLst/>
          </a:prstGeom>
          <a:noFill/>
          <a:ln w="63500">
            <a:solidFill>
              <a:srgbClr val="FF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62179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Thin Expo Router entries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Feature boundaries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Naming and import order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Constants vs runtime config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01: objectives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Project organisation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493776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0B120D"/>
                </a:solidFill>
              </a:rPr>
              <a:t>Thin Expo Router entries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Feature boundaries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Naming and import order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Constants vs runtime config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4805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Code paths to open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F6A62"/>
                </a:solidFill>
              </a:rPr>
              <a:t>mobile/app → features → constants/config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A62"/>
                </a:solidFill>
              </a:rPr>
              <a:t>Keep slides light; use lesson notes for detailed facilitation.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01: decisions and trade-offs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What we chose, why, and when to choose differently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90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Routes delegate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490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Feature screens are testable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Config separated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7249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Runtime values differ from design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59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Dashboard router central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9593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Staff routes are guarded once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372D"/>
                </a:solidFill>
              </a:rPr>
              <a:t>Review prompt: what would make us choose differently?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01: anchor snippet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Short, real excerpts from the monorepo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577840" cy="3200400"/>
          </a:xfrm>
          <a:prstGeom prst="roundRect">
            <a:avLst>
              <a:gd name="adj" fmla="val 34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521208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SignInScreen } from '@/features/auth/screens/sign-in-screen';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SignInScreen;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720840" y="1234440"/>
            <a:ext cx="42519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Ask learners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30175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Which layer owns this code?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invariant does it protect?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bug appears if we move it?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test or review check covers it?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01: activity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Interactive practice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058400" cy="3383280"/>
          </a:xfrm>
          <a:prstGeom prst="roundRect">
            <a:avLst>
              <a:gd name="adj" fmla="val 324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373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20D"/>
                </a:solidFill>
              </a:rPr>
              <a:t>Refactor a hypothetical route that does fetching, rendering and styling into route + feature screen + components.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8229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0B120D"/>
                </a:solidFill>
              </a:rPr>
              <a:t>Prediction first: what will happen if…?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Debugging task: reproduce or trace the issue.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Code review: leave actionable comments.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Implementation challenge: small, accepted by criteria.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6A0"/>
                </a:solidFill>
              </a:rPr>
              <a:t>Lesson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Components and design tokens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1B1"/>
                </a:solidFill>
              </a:rPr>
              <a:t>75 min · mobile/constants + dashboard tokens.css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577840" cy="0"/>
          </a:xfrm>
          <a:prstGeom prst="line">
            <a:avLst/>
          </a:prstGeom>
          <a:noFill/>
          <a:ln w="63500">
            <a:solidFill>
              <a:srgbClr val="FF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62179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Use tokens everywhere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Understand light/dark palettes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Keep danger separate from red brand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Extend reusable components safely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02: objectives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Components and design tokens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493776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0B120D"/>
                </a:solidFill>
              </a:rPr>
              <a:t>Use tokens everywhere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Understand light/dark palettes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Keep danger separate from red brand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Extend reusable components safely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4805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Code paths to open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F6A62"/>
                </a:solidFill>
              </a:rPr>
              <a:t>mobile/constants + dashboard tokens.css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A62"/>
                </a:solidFill>
              </a:rPr>
              <a:t>Keep slides light; use lesson notes for detailed facilitation.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02: decisions and trade-offs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What we chose, why, and when to choose differently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90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StyleSheet + constants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490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Plain, typed, searchable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Mantine + CSS variables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7249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Accessible dashboard primitives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59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Danger token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9593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Not the dark brand 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372D"/>
                </a:solidFill>
              </a:rPr>
              <a:t>Review prompt: what would make us choose differently?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02: anchor snippet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Short, real excerpts from the monorepo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577840" cy="3200400"/>
          </a:xfrm>
          <a:prstGeom prst="roundRect">
            <a:avLst>
              <a:gd name="adj" fmla="val 34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521208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danger: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colors.dangerSoft,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colors.danger,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tone: 'danger',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720840" y="1234440"/>
            <a:ext cx="42519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Ask learners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30175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Which layer owns this code?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invariant does it protect?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bug appears if we move it?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test or review check covers it?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02: activity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Interactive practice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058400" cy="3383280"/>
          </a:xfrm>
          <a:prstGeom prst="roundRect">
            <a:avLst>
              <a:gd name="adj" fmla="val 324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373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20D"/>
                </a:solidFill>
              </a:rPr>
              <a:t>Find and replace a hard-coded style in a flawed example with tokens.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8229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0B120D"/>
                </a:solidFill>
              </a:rPr>
              <a:t>Prediction first: what will happen if…?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Debugging task: reproduce or trace the issue.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Code review: leave actionable comments.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Implementation challenge: small, accepted by criteria.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6A0"/>
                </a:solidFill>
              </a:rPr>
              <a:t>Lesson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Navigation and flows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1B1"/>
                </a:solidFill>
              </a:rPr>
              <a:t>75 min · Expo Router groups + dashboard RequireStaff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577840" cy="0"/>
          </a:xfrm>
          <a:prstGeom prst="line">
            <a:avLst/>
          </a:prstGeom>
          <a:noFill/>
          <a:ln w="63500">
            <a:solidFill>
              <a:srgbClr val="FF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62179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Trace one-way and round-trip booking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Explain Stack.Protected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Use modal station picker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Trace dashboard routes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03: objectives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Navigation and flows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493776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0B120D"/>
                </a:solidFill>
              </a:rPr>
              <a:t>Trace one-way and round-trip booking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Explain Stack.Protected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Use modal station picker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Trace dashboard routes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4805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Code paths to open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F6A62"/>
                </a:solidFill>
              </a:rPr>
              <a:t>Expo Router groups + dashboard RequireStaff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A62"/>
                </a:solidFill>
              </a:rPr>
              <a:t>Keep slides light; use lesson notes for detailed facilitation.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03: decisions and trade-offs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What we chose, why, and when to choose differently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90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Protected groups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490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Screens avoid auth checks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Modal station picker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7249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One picker handles origin/destination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59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Route params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9593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Minimal addressable context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372D"/>
                </a:solidFill>
              </a:rPr>
              <a:t>Review prompt: what would make us choose differently?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03: anchor snippet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Short, real excerpts from the monorepo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577840" cy="3200400"/>
          </a:xfrm>
          <a:prstGeom prst="roundRect">
            <a:avLst>
              <a:gd name="adj" fmla="val 34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521208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&lt;Stack.Screen name="station-picker" options={{ presentation: 'modal' }} /&gt;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&lt;Stack.Screen name="journeys/[id]" /&gt;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&lt;Stack.Screen name="checkout" /&gt;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720840" y="1234440"/>
            <a:ext cx="42519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Ask learners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30175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Which layer owns this code?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invariant does it protect?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bug appears if we move it?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test or review check covers it?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03: activity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Interactive practice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058400" cy="3383280"/>
          </a:xfrm>
          <a:prstGeom prst="roundRect">
            <a:avLst>
              <a:gd name="adj" fmla="val 324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373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20D"/>
                </a:solidFill>
              </a:rPr>
              <a:t>Draw the booking flow and mark which state is route params vs draft store.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8229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0B120D"/>
                </a:solidFill>
              </a:rPr>
              <a:t>Prediction first: what will happen if…?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Debugging task: reproduce or trace the issue.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Code review: leave actionable comments.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Implementation challenge: small, accepted by criteria.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6A0"/>
                </a:solidFill>
              </a:rPr>
              <a:t>Lesson 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State management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1B1"/>
                </a:solidFill>
              </a:rPr>
              <a:t>90 min · Zustand + useApiQuery vs Redux + TanStack Query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577840" cy="0"/>
          </a:xfrm>
          <a:prstGeom prst="line">
            <a:avLst/>
          </a:prstGeom>
          <a:noFill/>
          <a:ln w="63500">
            <a:solidFill>
              <a:srgbClr val="FF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62179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Classify client vs server state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Use persist/partialize safely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Use selectors/useShallow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Invalidate query caches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04: objectives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State management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493776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0B120D"/>
                </a:solidFill>
              </a:rPr>
              <a:t>Classify client vs server state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Use persist/partialize safely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Use selectors/useShallow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Invalidate query caches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4805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Code paths to open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F6A62"/>
                </a:solidFill>
              </a:rPr>
              <a:t>Zustand + useApiQuery vs Redux + TanStack Query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A62"/>
                </a:solidFill>
              </a:rPr>
              <a:t>Keep slides light; use lesson notes for detailed facilitation.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04: decisions and trade-offs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What we chose, why, and when to choose differently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90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Zustand mobile draft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490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Small client intent store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useApiQuery mobile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7249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Modest server-state needs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59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TanStack dashboard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9593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Server cache and mutations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372D"/>
                </a:solidFill>
              </a:rPr>
              <a:t>Review prompt: what would make us choose differently?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04: anchor snippet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Short, real excerpts from the monorepo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577840" cy="3200400"/>
          </a:xfrm>
          <a:prstGeom prst="roundRect">
            <a:avLst>
              <a:gd name="adj" fmla="val 34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521208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partialize: ({ origin, destination }) =&gt; ({ origin, destination }),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queryClient.invalidateQueries({ queryKey: ['journeys'] });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720840" y="1234440"/>
            <a:ext cx="42519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Ask learners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30175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Which layer owns this code?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invariant does it protect?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bug appears if we move it?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test or review check covers it?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04: activity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Interactive practice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058400" cy="3383280"/>
          </a:xfrm>
          <a:prstGeom prst="roundRect">
            <a:avLst>
              <a:gd name="adj" fmla="val 324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373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20D"/>
                </a:solidFill>
              </a:rPr>
              <a:t>Classify ten example values as route, component, client store or server state.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8229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0B120D"/>
                </a:solidFill>
              </a:rPr>
              <a:t>Prediction first: what will happen if…?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Debugging task: reproduce or trace the issue.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Code review: leave actionable comments.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Implementation challenge: small, accepted by criteria.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6A0"/>
                </a:solidFill>
              </a:rPr>
              <a:t>Lesson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API, forms and failures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1B1"/>
                </a:solidFill>
              </a:rPr>
              <a:t>90 min · Axios clients, ApiError, checkout recovery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577840" cy="0"/>
          </a:xfrm>
          <a:prstGeom prst="line">
            <a:avLst/>
          </a:prstGeom>
          <a:noFill/>
          <a:ln w="63500">
            <a:solidFill>
              <a:srgbClr val="FF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62179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Normalize API errors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Map field errors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Trust server quote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Recover from SEAT_TAKEN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05: objectives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API, forms and failures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493776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0B120D"/>
                </a:solidFill>
              </a:rPr>
              <a:t>Normalize API errors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Map field errors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Trust server quote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Recover from SEAT_TAKEN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4805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Code paths to open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F6A62"/>
                </a:solidFill>
              </a:rPr>
              <a:t>Axios clients, ApiError, checkout recovery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A62"/>
                </a:solidFill>
              </a:rPr>
              <a:t>Keep slides light; use lesson notes for detailed facilitation.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05: decisions and trade-offs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What we chose, why, and when to choose differently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90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One Axios client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490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Central auth and 401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Server quote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7249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Prices are authoritative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59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Conflict recovery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9593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Concurrency is normal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372D"/>
                </a:solidFill>
              </a:rPr>
              <a:t>Review prompt: what would make us choose differently?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05: anchor snippet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Short, real excerpts from the monorepo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577840" cy="3200400"/>
          </a:xfrm>
          <a:prstGeom prst="roundRect">
            <a:avLst>
              <a:gd name="adj" fmla="val 34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521208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quote = useApiQuery(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 ? `quote:${JSON.stringify(request)}` : null,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=&gt; bookingsApi.quote(request!),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720840" y="1234440"/>
            <a:ext cx="42519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Ask learners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30175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Which layer owns this code?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invariant does it protect?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bug appears if we move it?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test or review check covers it?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05: activity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Interactive practice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058400" cy="3383280"/>
          </a:xfrm>
          <a:prstGeom prst="roundRect">
            <a:avLst>
              <a:gd name="adj" fmla="val 324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373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20D"/>
                </a:solidFill>
              </a:rPr>
              <a:t>Trigger invalid email and explain the path from backend fieldErrors to TextField error.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8229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0B120D"/>
                </a:solidFill>
              </a:rPr>
              <a:t>Prediction first: what will happen if…?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Debugging task: reproduce or trace the issue.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Code review: leave actionable comments.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Implementation challenge: small, accepted by criteria.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6A0"/>
                </a:solidFill>
              </a:rPr>
              <a:t>Lesson 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Performance and debugging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1B1"/>
                </a:solidFill>
              </a:rPr>
              <a:t>90 min · FlatList, Skia, Reanimated, polling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577840" cy="0"/>
          </a:xfrm>
          <a:prstGeom prst="line">
            <a:avLst/>
          </a:prstGeom>
          <a:noFill/>
          <a:ln w="63500">
            <a:solidFill>
              <a:srgbClr val="FF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62179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Profile list patterns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Explain Skia + native Pressables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Respect reduced motion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Debug stale seat maps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06: objectives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Performance and debugging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493776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0B120D"/>
                </a:solidFill>
              </a:rPr>
              <a:t>Profile list patterns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Explain Skia + native Pressables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Respect reduced motion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Debug stale seat maps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4805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Code paths to open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F6A62"/>
                </a:solidFill>
              </a:rPr>
              <a:t>FlatList, Skia, Reanimated, polling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A62"/>
                </a:solidFill>
              </a:rPr>
              <a:t>Keep slides light; use lesson notes for detailed facilitation.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06: decisions and trade-offs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What we chose, why, and when to choose differently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90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Skia draws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490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Native controls interact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Focus polling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7249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Fresh enough without always-on traffic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59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Memoized sets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9593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Avoid repeated seat lookups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372D"/>
                </a:solidFill>
              </a:rPr>
              <a:t>Review prompt: what would make us choose differently?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06: anchor snippet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Short, real excerpts from the monorepo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577840" cy="3200400"/>
          </a:xfrm>
          <a:prstGeom prst="roundRect">
            <a:avLst>
              <a:gd name="adj" fmla="val 34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521208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taken = useMemo(() =&gt; new Set(car.takenSeats), [car.takenSeats]);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reduceMotion = useReducedMotion();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720840" y="1234440"/>
            <a:ext cx="42519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Ask learners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30175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Which layer owns this code?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invariant does it protect?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bug appears if we move it?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test or review check covers it?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06: activity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Interactive practice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058400" cy="3383280"/>
          </a:xfrm>
          <a:prstGeom prst="roundRect">
            <a:avLst>
              <a:gd name="adj" fmla="val 324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373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20D"/>
                </a:solidFill>
              </a:rPr>
              <a:t>Debug a selected seat that becomes taken while the screen is open.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8229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0B120D"/>
                </a:solidFill>
              </a:rPr>
              <a:t>Prediction first: what will happen if…?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Debugging task: reproduce or trace the issue.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Code review: leave actionable comments.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Implementation challenge: small, accepted by criteria.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1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6A0"/>
                </a:solidFill>
              </a:rPr>
              <a:t>Lesson 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Accessibility, testing, review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1B1"/>
                </a:solidFill>
              </a:rPr>
              <a:t>75 min · RNTL, Vitest, e2e, Husky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577840" cy="0"/>
          </a:xfrm>
          <a:prstGeom prst="line">
            <a:avLst/>
          </a:prstGeom>
          <a:noFill/>
          <a:ln w="63500">
            <a:solidFill>
              <a:srgbClr val="FF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62179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Add roles/labels/states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Test user-visible behavior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Use Husky hooks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Apply review checklist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07: objectives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Accessibility, testing, review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493776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0B120D"/>
                </a:solidFill>
              </a:rPr>
              <a:t>Add roles/labels/states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Test user-visible behavior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Use Husky hooks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Apply review checklist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4805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Code paths to open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F6A62"/>
                </a:solidFill>
              </a:rPr>
              <a:t>RNTL, Vitest, e2e, Husky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A62"/>
                </a:solidFill>
              </a:rPr>
              <a:t>Keep slides light; use lesson notes for detailed facilitation.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07: decisions and trade-offs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What we chose, why, and when to choose differently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90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Icon + label + colour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490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Status is not colour-only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Targeted tests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7249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Fast confidence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59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Backend e2e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9593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Concurrency proof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372D"/>
                </a:solidFill>
              </a:rPr>
              <a:t>Review prompt: what would make us choose differently?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07: anchor snippet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Short, real excerpts from the monorepo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577840" cy="3200400"/>
          </a:xfrm>
          <a:prstGeom prst="roundRect">
            <a:avLst>
              <a:gd name="adj" fmla="val 34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521208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expect(await screen.findByLabelText('Delayed +25 min')).toBeTruthy();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expect(statuses).toEqual([201, 409]);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720840" y="1234440"/>
            <a:ext cx="42519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Ask learners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30175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Which layer owns this code?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invariant does it protect?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bug appears if we move it?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test or review check covers it?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07: activity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Interactive practice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058400" cy="3383280"/>
          </a:xfrm>
          <a:prstGeom prst="roundRect">
            <a:avLst>
              <a:gd name="adj" fmla="val 324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373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20D"/>
                </a:solidFill>
              </a:rPr>
              <a:t>Write five code-review comments for flawed examples.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8229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0B120D"/>
                </a:solidFill>
              </a:rPr>
              <a:t>Prediction first: what will happen if…?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Debugging task: reproduce or trace the issue.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Code review: leave actionable comments.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Implementation challenge: small, accepted by criteria.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1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6A0"/>
                </a:solidFill>
              </a:rPr>
              <a:t>Lesson 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Extending maintainably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1B1"/>
                </a:solidFill>
              </a:rPr>
              <a:t>75 min · Feature-local first, query keys, API contracts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577840" cy="0"/>
          </a:xfrm>
          <a:prstGeom prst="line">
            <a:avLst/>
          </a:prstGeom>
          <a:noFill/>
          <a:ln w="63500">
            <a:solidFill>
              <a:srgbClr val="FF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62179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Plan changes across layers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Know when to abstract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Avoid duplicated responsibilities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Write acceptance criteria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08: objectives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Extending maintainably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493776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0B120D"/>
                </a:solidFill>
              </a:rPr>
              <a:t>Plan changes across layers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Know when to abstract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Avoid duplicated responsibilities</a:t>
            </a:r>
            <a:endParaRPr lang="en-US" sz="1600" dirty="0"/>
          </a:p>
          <a:p>
            <a:r>
              <a:rPr lang="en-US" sz="1600" dirty="0">
                <a:solidFill>
                  <a:srgbClr val="0B120D"/>
                </a:solidFill>
              </a:rPr>
              <a:t>Write acceptance criteria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4805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Code paths to open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F6A62"/>
                </a:solidFill>
              </a:rPr>
              <a:t>Feature-local first, query keys, API contracts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A62"/>
                </a:solidFill>
              </a:rPr>
              <a:t>Keep slides light; use lesson notes for detailed facilitation.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08: decisions and trade-offs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What we chose, why, and when to choose differently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90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Feature-local 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490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Avoid premature shared APIs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Inputs in query keys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7249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Prevent stale filters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59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0D"/>
                </a:solidFill>
              </a:rPr>
              <a:t>Backend DTO contract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9593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A62"/>
                </a:solidFill>
              </a:rPr>
              <a:t>Frontend cannot invent authority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372D"/>
                </a:solidFill>
              </a:rPr>
              <a:t>Review prompt: what would make us choose differently?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08: anchor snippet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Short, real excerpts from the monorepo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577840" cy="3200400"/>
          </a:xfrm>
          <a:prstGeom prst="roundRect">
            <a:avLst>
              <a:gd name="adj" fmla="val 34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521208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key = originId &amp;&amp; destinationId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`journeys:${originId}:${destinationId}:${date}:${sort}:${passengers}`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null;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720840" y="1234440"/>
            <a:ext cx="42519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0D"/>
                </a:solidFill>
              </a:rPr>
              <a:t>Ask learners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30175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dirty="0">
                <a:solidFill>
                  <a:srgbClr val="0B120D"/>
                </a:solidFill>
              </a:rPr>
              <a:t>Which layer owns this code?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invariant does it protect?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bug appears if we move it?</a:t>
            </a:r>
            <a:endParaRPr lang="en-US" sz="1300" dirty="0"/>
          </a:p>
          <a:p>
            <a:r>
              <a:rPr lang="en-US" sz="1300" dirty="0">
                <a:solidFill>
                  <a:srgbClr val="0B120D"/>
                </a:solidFill>
              </a:rPr>
              <a:t>What test or review check covers it?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08: activity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Interactive practice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058400" cy="3383280"/>
          </a:xfrm>
          <a:prstGeom prst="roundRect">
            <a:avLst>
              <a:gd name="adj" fmla="val 3243"/>
            </a:avLst>
          </a:prstGeom>
          <a:solidFill>
            <a:srgbClr val="DDF7E6"/>
          </a:solidFill>
          <a:ln w="12700">
            <a:solidFill>
              <a:srgbClr val="DD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373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20D"/>
                </a:solidFill>
              </a:rPr>
              <a:t>Plan a first-class-only or departs-after-noon journey filter end-to-end.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8229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0B120D"/>
                </a:solidFill>
              </a:rPr>
              <a:t>Prediction first: what will happen if…?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Debugging task: reproduce or trace the issue.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Code review: leave actionable comments.</a:t>
            </a:r>
            <a:endParaRPr lang="en-US" sz="1400" dirty="0"/>
          </a:p>
          <a:p>
            <a:r>
              <a:rPr lang="en-US" sz="1400" dirty="0">
                <a:solidFill>
                  <a:srgbClr val="0B120D"/>
                </a:solidFill>
              </a:rPr>
              <a:t>Implementation challenge: small, accepted by criteria.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A: Tickets and PDF417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Optional extension module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484632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solidFill>
                  <a:srgbClr val="0B120D"/>
                </a:solidFill>
              </a:rPr>
              <a:t>API generates PDF417 matrix.</a:t>
            </a:r>
            <a:endParaRPr lang="en-US" sz="1500" dirty="0"/>
          </a:p>
          <a:p>
            <a:r>
              <a:rPr lang="en-US" sz="1500" dirty="0">
                <a:solidFill>
                  <a:srgbClr val="0B120D"/>
                </a:solidFill>
              </a:rPr>
              <a:t>Mobile draws one Skia path.</a:t>
            </a:r>
            <a:endParaRPr lang="en-US" sz="1500" dirty="0"/>
          </a:p>
          <a:p>
            <a:r>
              <a:rPr lang="en-US" sz="1500" dirty="0">
                <a:solidFill>
                  <a:srgbClr val="0B120D"/>
                </a:solidFill>
              </a:rPr>
              <a:t>PDF uses same matrix as SVG.</a:t>
            </a:r>
            <a:endParaRPr lang="en-US" sz="1500" dirty="0"/>
          </a:p>
          <a:p>
            <a:r>
              <a:rPr lang="en-US" sz="1500" dirty="0">
                <a:solidFill>
                  <a:srgbClr val="0B120D"/>
                </a:solidFill>
              </a:rPr>
              <a:t>Black-on-white stays scannable.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23444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792" y="1371600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355080" y="1645920"/>
            <a:ext cx="4389120" cy="2606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pdf417Matrix(payload: string): BarcodeMatrix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options = { bcid: 'pdf417', text: payload };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format: 'PDF417', payload, columns, rows };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B: Dashboard operations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Optional extension module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484632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solidFill>
                  <a:srgbClr val="0B120D"/>
                </a:solidFill>
              </a:rPr>
              <a:t>Redux owns auth/UI only.</a:t>
            </a:r>
            <a:endParaRPr lang="en-US" sz="1500" dirty="0"/>
          </a:p>
          <a:p>
            <a:r>
              <a:rPr lang="en-US" sz="1500" dirty="0">
                <a:solidFill>
                  <a:srgbClr val="0B120D"/>
                </a:solidFill>
              </a:rPr>
              <a:t>TanStack Query owns server data.</a:t>
            </a:r>
            <a:endParaRPr lang="en-US" sz="1500" dirty="0"/>
          </a:p>
          <a:p>
            <a:r>
              <a:rPr lang="en-US" sz="1500" dirty="0">
                <a:solidFill>
                  <a:srgbClr val="0B120D"/>
                </a:solidFill>
              </a:rPr>
              <a:t>Mantine components use tokens.</a:t>
            </a:r>
            <a:endParaRPr lang="en-US" sz="1500" dirty="0"/>
          </a:p>
          <a:p>
            <a:r>
              <a:rPr lang="en-US" sz="1500" dirty="0">
                <a:solidFill>
                  <a:srgbClr val="0B120D"/>
                </a:solidFill>
              </a:rPr>
              <a:t>CSS Modules use --rp-* variables.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23444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792" y="1371600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355080" y="1645920"/>
            <a:ext cx="4389120" cy="2606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journeys = useJourneys({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page, pageSize, search: debouncedSearch, status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density = useAppSelector((s) =&gt; s.ui.tableDensity);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C: API contracts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A62"/>
                </a:solidFill>
              </a:rPr>
              <a:t>Optional extension module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EE6A0"/>
          </a:solidFill>
          <a:ln w="12700">
            <a:solidFill>
              <a:srgbClr val="7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3886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0D"/>
                </a:solidFill>
              </a:rPr>
              <a:t>RailPass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484632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solidFill>
                  <a:srgbClr val="0B120D"/>
                </a:solidFill>
              </a:rPr>
              <a:t>Backend error shape drives forms.</a:t>
            </a:r>
            <a:endParaRPr lang="en-US" sz="1500" dirty="0"/>
          </a:p>
          <a:p>
            <a:r>
              <a:rPr lang="en-US" sz="1500" dirty="0">
                <a:solidFill>
                  <a:srgbClr val="0B120D"/>
                </a:solidFill>
              </a:rPr>
              <a:t>Server pricing is authoritative.</a:t>
            </a:r>
            <a:endParaRPr lang="en-US" sz="1500" dirty="0"/>
          </a:p>
          <a:p>
            <a:r>
              <a:rPr lang="en-US" sz="1500" dirty="0">
                <a:solidFill>
                  <a:srgbClr val="0B120D"/>
                </a:solidFill>
              </a:rPr>
              <a:t>SeatReservation unique index prevents races.</a:t>
            </a:r>
            <a:endParaRPr lang="en-US" sz="1500" dirty="0"/>
          </a:p>
          <a:p>
            <a:r>
              <a:rPr lang="en-US" sz="1500" dirty="0">
                <a:solidFill>
                  <a:srgbClr val="0B120D"/>
                </a:solidFill>
              </a:rPr>
              <a:t>E2E test proves one 201 and one 409.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23444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101614"/>
          </a:solidFill>
          <a:ln w="12700">
            <a:solidFill>
              <a:srgbClr val="274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792" y="1371600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E6A0"/>
                </a:solidFill>
              </a:rPr>
              <a:t>Real code excerpt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355080" y="1645920"/>
            <a:ext cx="4389120" cy="2606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@@unique([journeyId, carNumber, seatNumber])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6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expect(statuses).toEqual([201, 409]);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F6A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711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Final review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1600200"/>
            <a:ext cx="548640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Paths and ownership are correct.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Design values come from tokens.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Server state is not duplicated.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Errors and conflicts have recovery paths.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Accessible labels/roles/states exist.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Tests or verification evidence are included.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498080" y="201168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FF4D5A"/>
          </a:solidFill>
          <a:ln w="12700">
            <a:solidFill>
              <a:srgbClr val="FF4D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52944" y="2103120"/>
            <a:ext cx="2724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0405"/>
                </a:solidFill>
              </a:rPr>
              <a:t>Ship small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0405"/>
                </a:solidFill>
              </a:rPr>
              <a:t>Review deeply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0405"/>
                </a:solidFill>
              </a:rPr>
              <a:t>Learn the code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3623</Words>
  <Application>Microsoft Macintosh PowerPoint</Application>
  <PresentationFormat>Widescreen</PresentationFormat>
  <Paragraphs>623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RailPass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RailPass frontend course</dc:title>
  <dc:subject>RailPass frontend onboarding course</dc:subject>
  <dc:creator>GitHub Copilot for RailPass</dc:creator>
  <cp:lastModifiedBy>Agyekum Ebenezer</cp:lastModifiedBy>
  <cp:revision>2</cp:revision>
  <dcterms:created xsi:type="dcterms:W3CDTF">2026-10-03T10:18:07Z</dcterms:created>
  <dcterms:modified xsi:type="dcterms:W3CDTF">2026-10-03T13:34:35Z</dcterms:modified>
</cp:coreProperties>
</file>